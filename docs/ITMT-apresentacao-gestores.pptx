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540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A2540"/>
                </a:solidFill>
                <a:latin typeface="Cambria"/>
              </a:rPr>
              <a:t>Os cinco maiores PIBs municipais (R$ bi, 2023)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PIB 2023 (R$ bi)</c:v>
                </c:pt>
              </c:strCache>
            </c:strRef>
          </c:tx>
          <c:spPr>
            <a:solidFill>
              <a:srgbClr val="0A254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Sinop</c:v>
                  </c:pt>
                  <c:pt idx="1">
                    <c:v>Sorriso</c:v>
                  </c:pt>
                  <c:pt idx="2">
                    <c:v>Várzea Grande</c:v>
                  </c:pt>
                  <c:pt idx="3">
                    <c:v>Rondonópolis</c:v>
                  </c:pt>
                  <c:pt idx="4">
                    <c:v>Cuiabá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11.7</c:v>
                </c:pt>
                <c:pt idx="1">
                  <c:v>13.7</c:v>
                </c:pt>
                <c:pt idx="2">
                  <c:v>14</c:v>
                </c:pt>
                <c:pt idx="3">
                  <c:v>16.6</c:v>
                </c:pt>
                <c:pt idx="4">
                  <c:v>39.1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8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540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A2540"/>
                </a:solidFill>
                <a:latin typeface="Cambria"/>
              </a:rPr>
              <a:t>PIB de Mato Grosso — observado e simulado (R$ bi)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Observado (IBGE)</c:v>
                </c:pt>
              </c:strCache>
            </c:strRef>
          </c:tx>
          <c:spPr>
            <a:solidFill>
              <a:srgbClr val="0A2540"/>
            </a:solidFill>
            <a:ln w="38100" cap="flat">
              <a:solidFill>
                <a:srgbClr val="0A25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A2540"/>
              </a:solidFill>
              <a:ln w="9525" cap="flat">
                <a:solidFill>
                  <a:srgbClr val="0A25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142.1</c:v>
                </c:pt>
                <c:pt idx="1">
                  <c:v>178.6</c:v>
                </c:pt>
                <c:pt idx="2">
                  <c:v>233.4</c:v>
                </c:pt>
                <c:pt idx="3">
                  <c:v>255.5</c:v>
                </c:pt>
                <c:pt idx="4">
                  <c:v>273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Tendência OLS (R²=0,96)</c:v>
                </c:pt>
              </c:strCache>
            </c:strRef>
          </c:tx>
          <c:spPr>
            <a:solidFill>
              <a:srgbClr val="8A97A8"/>
            </a:solidFill>
            <a:ln w="38100" cap="flat">
              <a:solidFill>
                <a:srgbClr val="8A97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A97A8"/>
              </a:solidFill>
              <a:ln w="9525" cap="flat">
                <a:solidFill>
                  <a:srgbClr val="8A97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273</c:v>
                </c:pt>
                <c:pt idx="5">
                  <c:v>318.1</c:v>
                </c:pt>
                <c:pt idx="6">
                  <c:v>352</c:v>
                </c:pt>
                <c:pt idx="7">
                  <c:v>385.9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+5% a.a.</c:v>
                </c:pt>
              </c:strCache>
            </c:strRef>
          </c:tx>
          <c:spPr>
            <a:solidFill>
              <a:srgbClr val="1F7A33"/>
            </a:solidFill>
            <a:ln w="38100" cap="flat">
              <a:solidFill>
                <a:srgbClr val="1F7A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7A33"/>
              </a:solidFill>
              <a:ln w="9525" cap="flat">
                <a:solidFill>
                  <a:srgbClr val="1F7A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273</c:v>
                </c:pt>
                <c:pt idx="5">
                  <c:v>286.7</c:v>
                </c:pt>
                <c:pt idx="6">
                  <c:v>301</c:v>
                </c:pt>
                <c:pt idx="7">
                  <c:v>316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+2,5% a.a.</c:v>
                </c:pt>
              </c:strCache>
            </c:strRef>
          </c:tx>
          <c:spPr>
            <a:solidFill>
              <a:srgbClr val="D98E1B"/>
            </a:solidFill>
            <a:ln w="38100" cap="flat">
              <a:solidFill>
                <a:srgbClr val="D98E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8E1B"/>
              </a:solidFill>
              <a:ln w="9525" cap="flat">
                <a:solidFill>
                  <a:srgbClr val="D98E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273</c:v>
                </c:pt>
                <c:pt idx="5">
                  <c:v>279.8</c:v>
                </c:pt>
                <c:pt idx="6">
                  <c:v>286.8</c:v>
                </c:pt>
                <c:pt idx="7">
                  <c:v>294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8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100"/>
        </c:scaling>
        <c:delete val="0"/>
        <c:axPos val="l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8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4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todo número desta demonstração tem fonte oficial identificada, data de referência declarada e é rastreável até o arquivo bruto. Quando não temos um dado, a plataforma diz "não temos" — nunca estima em silêncio. É essa disciplina que transforma informação em decisão defensável.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fio condutor da demonstração. Cada pergunta tem uma tela dedicada — e a quarta, a defensabilidade, é o diferencial para quem responde a TCE, MP e imprensa.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/painel ao vivo. Apontar a régua de procedência sob cada KPI: "isso acompanha o número em toda a plataforma, inclusive na exportação". Clicar no chip Área plantada para mostrar tendência e ranking recarregando.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/mapa ao vivo com PIB municipal. Falar: "política regional começa enxergando isso". Trocar o ano para 2019 e voltar — a evolução espacial aparece. Clicar em Sorriso para cair na ficha municipal.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/consulta ao vivo: Sorriso → Agronegócio → Área plantada. A comparação território×território e a série aparecem juntas. Reforçar as duas regras — são elas que evitam o erro clássico de "somar taxas" e o número inventado.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/cenarios ao vivo: PIB, estado, horizonte 3 anos, taxas 2.5 e 5. Falar: "a distância entre a tendência (R$ 386 bi) e o conservador (R$ 294 bi) em 2026 É a conversa de orçamento". Trocar o local para Sorriso: a simulação desce ao município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Digitar a pergunta ao vivo em /xingu. Para provar a honestidade: perguntar algo sem dado ("leitos de UTI de Cuiabá") — a resposta explica a ausência em vez de chutar.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fechamento técnico para TCE/MP/imprensa: a imutabilidade é permissão de banco de dados, não promessa. O papel da aplicação não tem UPDATE na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Transparência sobre o estágio: 5 temas com série real; os demais têm o conector pronto esperando o CSV oficial. Nenhuma promessa vazia — o pipeline é demonstrável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frase-tese e emendar na demonstração ao vivo (roteiro docs/roteiro-demo-gestores.md). FAQ preparado no roteiro: "e a saúde/educação?", "a IA pode alucinar?", "posso confiar para orçamento?", "quem garante que ninguém altera um número?".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8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ORIENTADO POR EVIDÊNCIA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ITMT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7E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Territorial de Mato Grosso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pública tem quatro perguntas — onde estamos, onde dói, para onde vamos e como eu provo.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plataforma responde as quatro, com fonte em cada número.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cobertos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4892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IBGE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66160" y="5394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oficiais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4892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5394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imutável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52560" y="4892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55/55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052560" y="5394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decisão tem quatro perguntas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5564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1109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19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37360" y="22128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executivo: os indicadores do estado consolidados, cada um com a régua de procedência.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36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75564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91109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19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dói?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452360" y="22128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dos 142 municípios: a desigualdade territorial que a média esconde.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45236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1330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288536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096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vamos?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737360" y="45902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históricas, projeção por tendência e simulador de cenários — sempre com o método declarado.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737360" y="5541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63640" y="38404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6FB"/>
          </a:solidFill>
          <a:ln/>
        </p:spPr>
      </p:sp>
      <p:sp>
        <p:nvSpPr>
          <p:cNvPr id="22" name="Shape 17"/>
          <p:cNvSpPr/>
          <p:nvPr/>
        </p:nvSpPr>
        <p:spPr>
          <a:xfrm>
            <a:off x="6537960" y="41330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288536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4096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eu provo?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7452360" y="45902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Procedência indissociável do número e trilha de auditoria imutável — decisão que sobrevive a questionamento.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52360" y="5541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— o estado em números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carregados das fontes oficiais do IBGE, consolidados pelo motor determinístico.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928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R$ 273,0 bi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2679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municipal somado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PIB dos Municípios · 2023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6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928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7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3,89 mi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83680" y="2679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Estimativas de População · 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95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8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21,2 mi ha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68680" y="4782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plantada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PAM · 2023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995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34,1 mi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583680" y="4782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de gado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5166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PPM · 2023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cada número do portal: fonte, data de referência, extração, licença e o hash do arquivo bruto — a régua de procedência acompanha o valor até na exportação.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dói — o território que a média esconde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estadual é um número só; o mapa mostra 142.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PIB, a razão entre o maior e o menor município é de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8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1.250×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Cuiabá (R$ 39 bi) contra Araguainha (R$ 31 mi).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mapa coroplético: passe o mouse e veja valor + fonte; clique e abra a ficha do município. A malha oficial do IBGE é servida pelo próprio portal — nenhum dado do usuário vai a terceiros.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577840" y="141732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59436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IBGE — PIB dos Municípios, agregado 5938, ref. 2023.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é muito ou pouco? — comparação honesta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solto não decide nada. A consulta compara o município com a Região Imediata, a Intermediária e o estado — na mesma tela.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00800" cy="777240"/>
          </a:xfrm>
          <a:prstGeom prst="roundRect">
            <a:avLst>
              <a:gd name="adj" fmla="val 8235"/>
            </a:avLst>
          </a:prstGeom>
          <a:solidFill>
            <a:srgbClr val="F2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29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Sorriso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2029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1.217.801 ha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0" y="20299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município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400800" cy="777240"/>
          </a:xfrm>
          <a:prstGeom prst="roundRect">
            <a:avLst>
              <a:gd name="adj" fmla="val 8235"/>
            </a:avLst>
          </a:prstGeom>
          <a:solidFill>
            <a:srgbClr val="F2F6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900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MT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29900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21.218.780 ha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0" y="2990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honesta dos 141 com dado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plantada, ref. 2023 — IBGE PAM.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66928" cy="566928"/>
          </a:xfrm>
          <a:prstGeom prst="ellipse">
            <a:avLst/>
          </a:prstGeom>
          <a:solidFill>
            <a:srgbClr val="F2F6FB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471416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nunca é somada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4617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RECALCULO refaz numerador ÷ denominador na agregação. A honestidade estatística é regra do motor, não boa vontade do analista (RN-003).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394960"/>
            <a:ext cx="566928" cy="566928"/>
          </a:xfrm>
          <a:prstGeom prst="ellipse">
            <a:avLst/>
          </a:prstGeom>
          <a:solidFill>
            <a:srgbClr val="F2F6F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5522976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5349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é resposta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1280160" y="5669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não existe devolve "não há dado", com a fonte mais recente e a cobertura — nunca uma estimativa silenciosa (RN-005).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315200" y="1920240"/>
            <a:ext cx="4297680" cy="2103120"/>
          </a:xfrm>
          <a:prstGeom prst="roundRect">
            <a:avLst>
              <a:gd name="adj" fmla="val 3913"/>
            </a:avLst>
          </a:prstGeom>
          <a:solidFill>
            <a:srgbClr val="0A2540"/>
          </a:solidFill>
          <a:ln/>
        </p:spPr>
      </p:sp>
      <p:sp>
        <p:nvSpPr>
          <p:cNvPr id="22" name="Text 18"/>
          <p:cNvSpPr/>
          <p:nvPr/>
        </p:nvSpPr>
        <p:spPr>
          <a:xfrm>
            <a:off x="76352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Série histórica na mesma tela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635240" y="2560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→ 2023, cada ponto do mesmo motor e da mesma fonte. Anos sem dado são omitidos — a ausência não vira zero.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 — simulador de cenários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 se crescer X% ao ano?" — três leituras para a mesma decisão de orçamento. Cada linha declara o próprio método.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980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600200"/>
            <a:ext cx="3291840" cy="4343400"/>
          </a:xfrm>
          <a:prstGeom prst="roundRect">
            <a:avLst>
              <a:gd name="adj" fmla="val 2500"/>
            </a:avLst>
          </a:prstGeom>
          <a:solidFill>
            <a:srgbClr val="F2F6FB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0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dá para confiar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95360" y="224028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Determinístico: mesma série, mesma projeção — sempre. Nada passa por IA.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na tela: OLS 2019–2023, R² = 0,96; taxas compostas declaradas.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não vira dado: cenário é tracejado e rotulado (RN-005).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 ao município: a mesma simulação para qualquer um dos 142.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Pergunte com suas palavras — IA Xingú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943600" cy="822960"/>
          </a:xfrm>
          <a:prstGeom prst="roundRect">
            <a:avLst>
              <a:gd name="adj" fmla="val 13333"/>
            </a:avLst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 a área plantada de Sorriso?"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606040"/>
            <a:ext cx="6309360" cy="1417320"/>
          </a:xfrm>
          <a:prstGeom prst="roundRect">
            <a:avLst>
              <a:gd name="adj" fmla="val 7742"/>
            </a:avLst>
          </a:prstGeom>
          <a:solidFill>
            <a:srgbClr val="F2F6FB"/>
          </a:solidFill>
          <a:ln w="12700">
            <a:solidFill>
              <a:srgbClr val="DF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7432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✛ PLANO  consultar · município 5107925 · indicador 13
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Sorriso, Área plantada registrava 1.217.801 hectares (ref. 2023).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— PAM · ref. 2023 · licença: dados abertos · hash 72b670a6…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708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43434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nunca vem da IA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auditor interno (A06) veta qualquer numeral que o modelo invente — a resposta é substituída e o veto entra na trilha. Testado com sabotagem deliberada.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8406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50566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é exibido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frase, a consulta que será executada aparece — validada contra o catálogo antes de tocar o banco.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797296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576986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sem IA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chave ou crédito, o interpretador determinístico assume. O portal nunca depende do modelo.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863840" y="1554480"/>
            <a:ext cx="3749040" cy="2468880"/>
          </a:xfrm>
          <a:prstGeom prst="roundRect">
            <a:avLst>
              <a:gd name="adj" fmla="val 3333"/>
            </a:avLst>
          </a:prstGeom>
          <a:solidFill>
            <a:srgbClr val="1F7A33"/>
          </a:solidFill>
          <a:ln/>
        </p:spPr>
      </p:sp>
      <p:sp>
        <p:nvSpPr>
          <p:cNvPr id="14" name="Text 9"/>
          <p:cNvSpPr/>
          <p:nvPr/>
        </p:nvSpPr>
        <p:spPr>
          <a:xfrm>
            <a:off x="81838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Também por voz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183880" y="219456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falada e resposta lida em voz alta no navegador — acessibilidade de série para quem não navega dashboards.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eu provo — a decisão que sobrevive a auditoria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2121408"/>
          </a:xfrm>
          <a:prstGeom prst="roundRect">
            <a:avLst>
              <a:gd name="adj" fmla="val 3879"/>
            </a:avLst>
          </a:prstGeom>
          <a:solidFill>
            <a:srgbClr val="F2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836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0078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Publicação é ato humano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2176272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novo nasce "em análise" e só aparece após parecer assinado com justificativa. A validação automática produz dossiê — insumo, nunca decisão (RG-09).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2121408"/>
          </a:xfrm>
          <a:prstGeom prst="roundRect">
            <a:avLst>
              <a:gd name="adj" fmla="val 3879"/>
            </a:avLst>
          </a:prstGeom>
          <a:solidFill>
            <a:srgbClr val="F2F6FB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7373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88366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0078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Trilha imutável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406640" y="2176272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Consulta, carga, parecer e veto entram numa cadeia SHA-256 sem UPDATE nem DELETE — nem o administrador reescreve. Um verificador recomputa a cadeia de ponta a ponta.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858768"/>
            <a:ext cx="5349240" cy="2121408"/>
          </a:xfrm>
          <a:prstGeom prst="roundRect">
            <a:avLst>
              <a:gd name="adj" fmla="val 3879"/>
            </a:avLst>
          </a:prstGeom>
          <a:solidFill>
            <a:srgbClr val="F2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13308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27939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096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Exportação com procedência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91640" y="45720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XLSX e PDF saem com fonte, referência, licença e hash linha a linha — o anexo do processo administrativo, pronto.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858768"/>
            <a:ext cx="5349240" cy="2121408"/>
          </a:xfrm>
          <a:prstGeom prst="roundRect">
            <a:avLst>
              <a:gd name="adj" fmla="val 3879"/>
            </a:avLst>
          </a:prstGeom>
          <a:solidFill>
            <a:srgbClr val="F2F6FB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413308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FE7F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27939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096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Co-produção governada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406640" y="45720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e parceiros têm papel próprio para submeter dados e estudos — que também só publicam após curadoria humana.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honesta — o que já tem, o que vem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dado real hoje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Demografia — população 2019–2025 (inclui Censo 2022)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— PIB municipal 2019–2023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Agronegócio — área plantada e rebanho bovino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Ambiente — silvicultura (PEVS)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Prontos para receber o arquivo oficial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— leitos (CNES/DataSUS)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— matrículas (INEP)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— ocorrências (SESP-MT)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Queimadas (INPE) e cobertura vegetal (MapBiomas)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é o mesmo para tudo que entra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oficial → captura bruta com hash → validação e quarentena → publicação idempotente → parecer humano. Cada arquivo oficial baixado vira indicador em minutos — e o que não tem fonte aparece como "sem fonte", nunca como zero.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estamos. Onde dói.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vamos. Como eu provo.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respostas da decisão pública, na mesma plataforma — com fonte em cada número.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754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8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 a seguir — portal, mapa, cenários e IA Xingú.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ITMT · demonstração para gestores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ITMT — decidir com informação que se prova</dc:title>
  <dc:subject>PptxGenJS Presentation</dc:subject>
  <dc:creator>Plataforma ITMT</dc:creator>
  <cp:lastModifiedBy>Plataforma ITMT</cp:lastModifiedBy>
  <cp:revision>1</cp:revision>
  <dcterms:created xsi:type="dcterms:W3CDTF">2026-07-23T14:41:11Z</dcterms:created>
  <dcterms:modified xsi:type="dcterms:W3CDTF">2026-07-23T14:41:11Z</dcterms:modified>
</cp:coreProperties>
</file>